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96f1d4f87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96f1d4f87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"I'll be exploring two major facets of modern workplace communication: active listening and dismantling hierarchies.</a:t>
            </a:r>
            <a:endParaRPr/>
          </a:p>
          <a:p>
            <a:pPr indent="0" lvl="0" marL="0" rtl="0" algn="l">
              <a:spcBef>
                <a:spcPts val="0"/>
              </a:spcBef>
              <a:spcAft>
                <a:spcPts val="0"/>
              </a:spcAft>
              <a:buClr>
                <a:schemeClr val="dk1"/>
              </a:buClr>
              <a:buSzPts val="1100"/>
              <a:buFont typeface="Arial"/>
              <a:buNone/>
            </a:pPr>
            <a:r>
              <a:rPr lang="en-GB"/>
              <a:t>% Active listening has its roots in psychology and counseling, and it has since become an essential skill in parenting, corporate communications, and beyond.</a:t>
            </a:r>
            <a:endParaRPr/>
          </a:p>
          <a:p>
            <a:pPr indent="0" lvl="0" marL="0" rtl="0" algn="l">
              <a:spcBef>
                <a:spcPts val="0"/>
              </a:spcBef>
              <a:spcAft>
                <a:spcPts val="0"/>
              </a:spcAft>
              <a:buClr>
                <a:schemeClr val="dk1"/>
              </a:buClr>
              <a:buSzPts val="1100"/>
              <a:buFont typeface="Arial"/>
              <a:buNone/>
            </a:pPr>
            <a:r>
              <a:rPr lang="en-GB"/>
              <a:t>% Meanwhile, dismantling traditional hierarchies is about ensuring that everyone’s voice is heard, not just those at the top.</a:t>
            </a:r>
            <a:endParaRPr/>
          </a:p>
          <a:p>
            <a:pPr indent="0" lvl="0" marL="0" rtl="0" algn="l">
              <a:spcBef>
                <a:spcPts val="0"/>
              </a:spcBef>
              <a:spcAft>
                <a:spcPts val="0"/>
              </a:spcAft>
              <a:buClr>
                <a:schemeClr val="dk1"/>
              </a:buClr>
              <a:buSzPts val="1100"/>
              <a:buFont typeface="Arial"/>
              <a:buNone/>
            </a:pPr>
            <a:r>
              <a:rPr lang="en-GB"/>
              <a:t>% We'll see why both are critical to fostering a more inclusive, innovative, and productive work environment."</a:t>
            </a:r>
            <a:endParaRPr/>
          </a:p>
          <a:p>
            <a:pPr indent="0" lvl="0" marL="0" rtl="0" algn="l">
              <a:spcBef>
                <a:spcPts val="0"/>
              </a:spcBef>
              <a:spcAft>
                <a:spcPts val="0"/>
              </a:spcAft>
              <a:buNone/>
            </a:pPr>
            <a:br>
              <a:rPr lang="en-GB"/>
            </a:br>
            <a:br>
              <a:rPr lang="en-GB"/>
            </a:br>
            <a:r>
              <a:rPr lang="en-GB"/>
              <a:t>Original:</a:t>
            </a:r>
            <a:br>
              <a:rPr lang="en-GB"/>
            </a:br>
            <a:r>
              <a:rPr lang="en-GB"/>
              <a:t>https://www.overleaf.com/project/67b4c688b13c79ef5983da21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96f1d4f8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96f1d4f8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Speaker notes:</a:t>
            </a:r>
            <a:endParaRPr/>
          </a:p>
          <a:p>
            <a:pPr indent="0" lvl="0" marL="0" rtl="0" algn="l">
              <a:spcBef>
                <a:spcPts val="0"/>
              </a:spcBef>
              <a:spcAft>
                <a:spcPts val="0"/>
              </a:spcAft>
              <a:buClr>
                <a:schemeClr val="dk1"/>
              </a:buClr>
              <a:buSzPts val="1100"/>
              <a:buFont typeface="Arial"/>
              <a:buNone/>
            </a:pPr>
            <a:r>
              <a:rPr lang="en-GB"/>
              <a:t>% "Active Listening, as a formal term, is often traced back to Carl Rogers in the 1950s.</a:t>
            </a:r>
            <a:endParaRPr/>
          </a:p>
          <a:p>
            <a:pPr indent="0" lvl="0" marL="0" rtl="0" algn="l">
              <a:spcBef>
                <a:spcPts val="0"/>
              </a:spcBef>
              <a:spcAft>
                <a:spcPts val="0"/>
              </a:spcAft>
              <a:buClr>
                <a:schemeClr val="dk1"/>
              </a:buClr>
              <a:buSzPts val="1100"/>
              <a:buFont typeface="Arial"/>
              <a:buNone/>
            </a:pPr>
            <a:r>
              <a:rPr lang="en-GB"/>
              <a:t>% Rogers believed that empathetic understanding was crucial in therapeutic settings.</a:t>
            </a:r>
            <a:endParaRPr/>
          </a:p>
          <a:p>
            <a:pPr indent="0" lvl="0" marL="0" rtl="0" algn="l">
              <a:spcBef>
                <a:spcPts val="0"/>
              </a:spcBef>
              <a:spcAft>
                <a:spcPts val="0"/>
              </a:spcAft>
              <a:buClr>
                <a:schemeClr val="dk1"/>
              </a:buClr>
              <a:buSzPts val="1100"/>
              <a:buFont typeface="Arial"/>
              <a:buNone/>
            </a:pPr>
            <a:r>
              <a:rPr lang="en-GB"/>
              <a:t>% Over time, this skill was found to be just as important in schools and businesses, helping to improve dialogue and mutual understanding."</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96f1d4f8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96f1d4f8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Speaker notes:</a:t>
            </a:r>
            <a:endParaRPr/>
          </a:p>
          <a:p>
            <a:pPr indent="0" lvl="0" marL="0" rtl="0" algn="l">
              <a:spcBef>
                <a:spcPts val="0"/>
              </a:spcBef>
              <a:spcAft>
                <a:spcPts val="0"/>
              </a:spcAft>
              <a:buClr>
                <a:schemeClr val="dk1"/>
              </a:buClr>
              <a:buSzPts val="1100"/>
              <a:buFont typeface="Arial"/>
              <a:buNone/>
            </a:pPr>
            <a:r>
              <a:rPr lang="en-GB"/>
              <a:t>% "Active listening is more than just hearing words. It’s about giving the speaker room to share, showing genuine interest through your body language, clarifying any confusing points, and reflecting back to ensure you understood them correctly.</a:t>
            </a:r>
            <a:endParaRPr/>
          </a:p>
          <a:p>
            <a:pPr indent="0" lvl="0" marL="0" rtl="0" algn="l">
              <a:spcBef>
                <a:spcPts val="0"/>
              </a:spcBef>
              <a:spcAft>
                <a:spcPts val="0"/>
              </a:spcAft>
              <a:buClr>
                <a:schemeClr val="dk1"/>
              </a:buClr>
              <a:buSzPts val="1100"/>
              <a:buFont typeface="Arial"/>
              <a:buNone/>
            </a:pPr>
            <a:r>
              <a:rPr lang="en-GB"/>
              <a:t>% One of the biggest pitfalls is rushing to judge or offer advice before fully hearing the other person.</a:t>
            </a:r>
            <a:endParaRPr/>
          </a:p>
          <a:p>
            <a:pPr indent="0" lvl="0" marL="0" rtl="0" algn="l">
              <a:spcBef>
                <a:spcPts val="0"/>
              </a:spcBef>
              <a:spcAft>
                <a:spcPts val="0"/>
              </a:spcAft>
              <a:buClr>
                <a:schemeClr val="dk1"/>
              </a:buClr>
              <a:buSzPts val="1100"/>
              <a:buFont typeface="Arial"/>
              <a:buNone/>
            </a:pPr>
            <a:r>
              <a:rPr lang="en-GB"/>
              <a:t>% When done well, active listening fosters a sense of trust and encourages team members to share openly."</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396f1d4f87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396f1d4f87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Speaker notes:</a:t>
            </a:r>
            <a:endParaRPr/>
          </a:p>
          <a:p>
            <a:pPr indent="0" lvl="0" marL="0" rtl="0" algn="l">
              <a:spcBef>
                <a:spcPts val="0"/>
              </a:spcBef>
              <a:spcAft>
                <a:spcPts val="0"/>
              </a:spcAft>
              <a:buClr>
                <a:schemeClr val="dk1"/>
              </a:buClr>
              <a:buSzPts val="1100"/>
              <a:buFont typeface="Arial"/>
              <a:buNone/>
            </a:pPr>
            <a:r>
              <a:rPr lang="en-GB"/>
              <a:t>% "The classic workplace structure was shaped by Frederick Taylor’s Scientific Management, emphasizing efficiency with a clear chain of command.</a:t>
            </a:r>
            <a:endParaRPr/>
          </a:p>
          <a:p>
            <a:pPr indent="0" lvl="0" marL="0" rtl="0" algn="l">
              <a:spcBef>
                <a:spcPts val="0"/>
              </a:spcBef>
              <a:spcAft>
                <a:spcPts val="0"/>
              </a:spcAft>
              <a:buClr>
                <a:schemeClr val="dk1"/>
              </a:buClr>
              <a:buSzPts val="1100"/>
              <a:buFont typeface="Arial"/>
              <a:buNone/>
            </a:pPr>
            <a:r>
              <a:rPr lang="en-GB"/>
              <a:t>% However, from the 1980s onward, there’s been a shift towards flatter structures and collaborative leadership—particularly driven by tech startups.</a:t>
            </a:r>
            <a:endParaRPr/>
          </a:p>
          <a:p>
            <a:pPr indent="0" lvl="0" marL="0" rtl="0" algn="l">
              <a:spcBef>
                <a:spcPts val="0"/>
              </a:spcBef>
              <a:spcAft>
                <a:spcPts val="0"/>
              </a:spcAft>
              <a:buClr>
                <a:schemeClr val="dk1"/>
              </a:buClr>
              <a:buSzPts val="1100"/>
              <a:buFont typeface="Arial"/>
              <a:buNone/>
            </a:pPr>
            <a:r>
              <a:rPr lang="en-GB"/>
              <a:t>% This shift is about giving everyone a seat at the table."</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96f1d4f87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96f1d4f8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Speaker notes:</a:t>
            </a:r>
            <a:endParaRPr/>
          </a:p>
          <a:p>
            <a:pPr indent="0" lvl="0" marL="0" rtl="0" algn="l">
              <a:spcBef>
                <a:spcPts val="0"/>
              </a:spcBef>
              <a:spcAft>
                <a:spcPts val="0"/>
              </a:spcAft>
              <a:buClr>
                <a:schemeClr val="dk1"/>
              </a:buClr>
              <a:buSzPts val="1100"/>
              <a:buFont typeface="Arial"/>
              <a:buNone/>
            </a:pPr>
            <a:r>
              <a:rPr lang="en-GB"/>
              <a:t>% "Dismantling hierarchies doesn’t mean having no structure at all; it means ensuring that every individual’s voice counts.</a:t>
            </a:r>
            <a:endParaRPr/>
          </a:p>
          <a:p>
            <a:pPr indent="0" lvl="0" marL="0" rtl="0" algn="l">
              <a:spcBef>
                <a:spcPts val="0"/>
              </a:spcBef>
              <a:spcAft>
                <a:spcPts val="0"/>
              </a:spcAft>
              <a:buClr>
                <a:schemeClr val="dk1"/>
              </a:buClr>
              <a:buSzPts val="1100"/>
              <a:buFont typeface="Arial"/>
              <a:buNone/>
            </a:pPr>
            <a:r>
              <a:rPr lang="en-GB"/>
              <a:t>% One way is by rotating leadership responsibilities so no single person always has the power.</a:t>
            </a:r>
            <a:endParaRPr/>
          </a:p>
          <a:p>
            <a:pPr indent="0" lvl="0" marL="0" rtl="0" algn="l">
              <a:spcBef>
                <a:spcPts val="0"/>
              </a:spcBef>
              <a:spcAft>
                <a:spcPts val="0"/>
              </a:spcAft>
              <a:buClr>
                <a:schemeClr val="dk1"/>
              </a:buClr>
              <a:buSzPts val="1100"/>
              <a:buFont typeface="Arial"/>
              <a:buNone/>
            </a:pPr>
            <a:r>
              <a:rPr lang="en-GB"/>
              <a:t>% Open-door policies and transparent decision-making also signal that the organization values open communication.</a:t>
            </a:r>
            <a:endParaRPr/>
          </a:p>
          <a:p>
            <a:pPr indent="0" lvl="0" marL="0" rtl="0" algn="l">
              <a:spcBef>
                <a:spcPts val="0"/>
              </a:spcBef>
              <a:spcAft>
                <a:spcPts val="0"/>
              </a:spcAft>
              <a:buClr>
                <a:schemeClr val="dk1"/>
              </a:buClr>
              <a:buSzPts val="1100"/>
              <a:buFont typeface="Arial"/>
              <a:buNone/>
            </a:pPr>
            <a:r>
              <a:rPr lang="en-GB"/>
              <a:t>% According to a Harvard Business Review study, companies with strong employee voice are far more likely to outperform their competitors, and Gallup research shows that engaged teams are significantly more profitable."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96f1d4f87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96f1d4f8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Speaker notes:</a:t>
            </a:r>
            <a:endParaRPr/>
          </a:p>
          <a:p>
            <a:pPr indent="0" lvl="0" marL="0" rtl="0" algn="l">
              <a:spcBef>
                <a:spcPts val="0"/>
              </a:spcBef>
              <a:spcAft>
                <a:spcPts val="0"/>
              </a:spcAft>
              <a:buClr>
                <a:schemeClr val="dk1"/>
              </a:buClr>
              <a:buSzPts val="1100"/>
              <a:buFont typeface="Arial"/>
              <a:buNone/>
            </a:pPr>
            <a:r>
              <a:rPr lang="en-GB"/>
              <a:t>% "In conclusion, active listening and dismantling hierarchies are two critical components of modern workplace communication.</a:t>
            </a:r>
            <a:endParaRPr/>
          </a:p>
          <a:p>
            <a:pPr indent="0" lvl="0" marL="0" rtl="0" algn="l">
              <a:spcBef>
                <a:spcPts val="0"/>
              </a:spcBef>
              <a:spcAft>
                <a:spcPts val="0"/>
              </a:spcAft>
              <a:buClr>
                <a:schemeClr val="dk1"/>
              </a:buClr>
              <a:buSzPts val="1100"/>
              <a:buFont typeface="Arial"/>
              <a:buNone/>
            </a:pPr>
            <a:r>
              <a:rPr lang="en-GB"/>
              <a:t>% By practicing active listening, we show respect and empathy, improving both team morale and problem-solving.</a:t>
            </a:r>
            <a:endParaRPr/>
          </a:p>
          <a:p>
            <a:pPr indent="0" lvl="0" marL="0" rtl="0" algn="l">
              <a:spcBef>
                <a:spcPts val="0"/>
              </a:spcBef>
              <a:spcAft>
                <a:spcPts val="0"/>
              </a:spcAft>
              <a:buClr>
                <a:schemeClr val="dk1"/>
              </a:buClr>
              <a:buSzPts val="1100"/>
              <a:buFont typeface="Arial"/>
              <a:buNone/>
            </a:pPr>
            <a:r>
              <a:rPr lang="en-GB"/>
              <a:t>% By moving away from rigid top-down models, we create an environment where new ideas can flourish and everyone feels valued.</a:t>
            </a:r>
            <a:endParaRPr/>
          </a:p>
          <a:p>
            <a:pPr indent="0" lvl="0" marL="0" rtl="0" algn="l">
              <a:spcBef>
                <a:spcPts val="0"/>
              </a:spcBef>
              <a:spcAft>
                <a:spcPts val="0"/>
              </a:spcAft>
              <a:buClr>
                <a:schemeClr val="dk1"/>
              </a:buClr>
              <a:buSzPts val="1100"/>
              <a:buFont typeface="Arial"/>
              <a:buNone/>
            </a:pPr>
            <a:r>
              <a:rPr lang="en-GB"/>
              <a:t>% Here are some references if you’d like to explore further."</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a:t>
            </a:r>
            <a:endParaRPr/>
          </a:p>
        </p:txBody>
      </p:sp>
      <p:sp>
        <p:nvSpPr>
          <p:cNvPr id="55" name="Google Shape;55;p13"/>
          <p:cNvSpPr txBox="1"/>
          <p:nvPr>
            <p:ph idx="1" type="body"/>
          </p:nvPr>
        </p:nvSpPr>
        <p:spPr>
          <a:xfrm>
            <a:off x="311700" y="1152475"/>
            <a:ext cx="8520600" cy="3488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solidFill>
                  <a:srgbClr val="000000"/>
                </a:solidFill>
              </a:rPr>
              <a:t>Key Topics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Active Listening: Evolved from therapy &amp; psychology to various domains (e.g., parenting, business).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Dismantling Hierarchies: Transitioning from rigid top-down structures to more collaborative models.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rPr b="1" lang="en-GB">
                <a:solidFill>
                  <a:srgbClr val="000000"/>
                </a:solidFill>
              </a:rPr>
              <a:t>Why It Matters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Fosters better team cohesion.</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Encourages creativity and innovation.</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Increases employee engagement and satisfaction.</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Short History (Active Listening)</a:t>
            </a:r>
            <a:endParaRPr/>
          </a:p>
        </p:txBody>
      </p:sp>
      <p:sp>
        <p:nvSpPr>
          <p:cNvPr id="61" name="Google Shape;61;p14"/>
          <p:cNvSpPr txBox="1"/>
          <p:nvPr>
            <p:ph idx="1" type="body"/>
          </p:nvPr>
        </p:nvSpPr>
        <p:spPr>
          <a:xfrm>
            <a:off x="311700" y="1152475"/>
            <a:ext cx="8520600" cy="3488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solidFill>
                  <a:srgbClr val="000000"/>
                </a:solidFill>
              </a:rPr>
              <a:t>Origins of Active Listening</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Coined and popularized by psychologists like </a:t>
            </a:r>
            <a:r>
              <a:rPr i="1" lang="en-GB">
                <a:solidFill>
                  <a:srgbClr val="000000"/>
                </a:solidFill>
              </a:rPr>
              <a:t>Carl Rogers</a:t>
            </a:r>
            <a:r>
              <a:rPr lang="en-GB">
                <a:solidFill>
                  <a:srgbClr val="000000"/>
                </a:solidFill>
              </a:rPr>
              <a:t> in the 1950s.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Spread to </a:t>
            </a:r>
            <a:r>
              <a:rPr b="1" lang="en-GB">
                <a:solidFill>
                  <a:srgbClr val="000000"/>
                </a:solidFill>
              </a:rPr>
              <a:t>education</a:t>
            </a:r>
            <a:r>
              <a:rPr lang="en-GB">
                <a:solidFill>
                  <a:srgbClr val="000000"/>
                </a:solidFill>
              </a:rPr>
              <a:t> and </a:t>
            </a:r>
            <a:r>
              <a:rPr b="1" lang="en-GB">
                <a:solidFill>
                  <a:srgbClr val="000000"/>
                </a:solidFill>
              </a:rPr>
              <a:t>corporate</a:t>
            </a:r>
            <a:r>
              <a:rPr lang="en-GB">
                <a:solidFill>
                  <a:srgbClr val="000000"/>
                </a:solidFill>
              </a:rPr>
              <a:t> sectors in the 1970s and 1980s.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rPr b="1" lang="en-GB">
                <a:solidFill>
                  <a:srgbClr val="000000"/>
                </a:solidFill>
              </a:rPr>
              <a:t>Modern Use</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Now seen as a critical skill in </a:t>
            </a:r>
            <a:r>
              <a:rPr i="1" lang="en-GB">
                <a:solidFill>
                  <a:srgbClr val="000000"/>
                </a:solidFill>
              </a:rPr>
              <a:t>management training</a:t>
            </a:r>
            <a:r>
              <a:rPr lang="en-GB">
                <a:solidFill>
                  <a:srgbClr val="000000"/>
                </a:solidFill>
              </a:rPr>
              <a:t> and </a:t>
            </a:r>
            <a:r>
              <a:rPr i="1" lang="en-GB">
                <a:solidFill>
                  <a:srgbClr val="000000"/>
                </a:solidFill>
              </a:rPr>
              <a:t>team-building</a:t>
            </a:r>
            <a:r>
              <a:rPr lang="en-GB">
                <a:solidFill>
                  <a:srgbClr val="000000"/>
                </a:solidFill>
              </a:rPr>
              <a:t>.</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Emphasizes empathy, clarification, and providing a safe space to</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speak.</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Active Listening – Core Principles</a:t>
            </a:r>
            <a:endParaRPr/>
          </a:p>
        </p:txBody>
      </p:sp>
      <p:sp>
        <p:nvSpPr>
          <p:cNvPr id="67" name="Google Shape;67;p15"/>
          <p:cNvSpPr txBox="1"/>
          <p:nvPr>
            <p:ph idx="1" type="body"/>
          </p:nvPr>
        </p:nvSpPr>
        <p:spPr>
          <a:xfrm>
            <a:off x="311700" y="1152475"/>
            <a:ext cx="8520600" cy="34881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000000"/>
              </a:buClr>
              <a:buSzPts val="1800"/>
              <a:buChar char="-"/>
            </a:pPr>
            <a:r>
              <a:rPr b="1" lang="en-GB">
                <a:solidFill>
                  <a:srgbClr val="000000"/>
                </a:solidFill>
              </a:rPr>
              <a:t>Giving Them Space: </a:t>
            </a:r>
            <a:r>
              <a:rPr lang="en-GB">
                <a:solidFill>
                  <a:srgbClr val="000000"/>
                </a:solidFill>
              </a:rPr>
              <a:t>Allow the speaker to finish without interruption.</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Showing Interest: </a:t>
            </a:r>
            <a:r>
              <a:rPr lang="en-GB">
                <a:solidFill>
                  <a:srgbClr val="000000"/>
                </a:solidFill>
              </a:rPr>
              <a:t>Use verbal and nonverbal cues (e.g., nodding, eye contact).</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Clarifying &amp; Reflecting: </a:t>
            </a:r>
            <a:r>
              <a:rPr lang="en-GB">
                <a:solidFill>
                  <a:srgbClr val="000000"/>
                </a:solidFill>
              </a:rPr>
              <a:t>Paraphrase to ensure understanding.</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Avoiding Judgement: </a:t>
            </a:r>
            <a:r>
              <a:rPr lang="en-GB">
                <a:solidFill>
                  <a:srgbClr val="000000"/>
                </a:solidFill>
              </a:rPr>
              <a:t>Listen to understand, not to immediately offer solutions or criticisms.</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rPr b="1" lang="en-GB">
                <a:solidFill>
                  <a:srgbClr val="000000"/>
                </a:solidFill>
              </a:rPr>
              <a:t>Why It Works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Builds trust and rapport.</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Encourages open dialogue and better problem-solving</a:t>
            </a:r>
            <a:endParaRPr>
              <a:solidFill>
                <a:srgbClr val="000000"/>
              </a:solidFill>
            </a:endParaRPr>
          </a:p>
          <a:p>
            <a:pPr indent="0" lvl="0" marL="0" rtl="0" algn="l">
              <a:lnSpc>
                <a:spcPct val="100000"/>
              </a:lnSpc>
              <a:spcBef>
                <a:spcPts val="0"/>
              </a:spcBef>
              <a:spcAft>
                <a:spcPts val="0"/>
              </a:spcAft>
              <a:buNone/>
            </a:pPr>
            <a:r>
              <a:t/>
            </a:r>
            <a:endParaRPr b="1">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Short History (Dismantling Hierarchies)</a:t>
            </a:r>
            <a:endParaRPr/>
          </a:p>
        </p:txBody>
      </p:sp>
      <p:sp>
        <p:nvSpPr>
          <p:cNvPr id="73" name="Google Shape;73;p16"/>
          <p:cNvSpPr txBox="1"/>
          <p:nvPr>
            <p:ph idx="1" type="body"/>
          </p:nvPr>
        </p:nvSpPr>
        <p:spPr>
          <a:xfrm>
            <a:off x="311700" y="1152475"/>
            <a:ext cx="8520600" cy="3488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GB">
                <a:solidFill>
                  <a:srgbClr val="000000"/>
                </a:solidFill>
              </a:rPr>
              <a:t>Traditional Workplace Structure</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Heavily influenced by </a:t>
            </a:r>
            <a:r>
              <a:rPr i="1" lang="en-GB">
                <a:solidFill>
                  <a:srgbClr val="000000"/>
                </a:solidFill>
              </a:rPr>
              <a:t>Frederick Taylor’s </a:t>
            </a:r>
            <a:r>
              <a:rPr lang="en-GB">
                <a:solidFill>
                  <a:srgbClr val="000000"/>
                </a:solidFill>
              </a:rPr>
              <a:t>Scientific Management</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(early 1900s).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Clear top-down approach with power concentrated at the top.</a:t>
            </a:r>
            <a:endParaRPr>
              <a:solidFill>
                <a:srgbClr val="000000"/>
              </a:solidFill>
            </a:endParaRPr>
          </a:p>
          <a:p>
            <a:pPr indent="0" lvl="0" marL="0" rtl="0" algn="l">
              <a:lnSpc>
                <a:spcPct val="100000"/>
              </a:lnSpc>
              <a:spcBef>
                <a:spcPts val="0"/>
              </a:spcBef>
              <a:spcAft>
                <a:spcPts val="0"/>
              </a:spcAft>
              <a:buNone/>
            </a:pPr>
            <a:r>
              <a:rPr b="1" lang="en-GB">
                <a:solidFill>
                  <a:srgbClr val="000000"/>
                </a:solidFill>
              </a:rPr>
              <a:t>Modern Shift</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Post-1980s: </a:t>
            </a:r>
            <a:r>
              <a:rPr b="1" lang="en-GB">
                <a:solidFill>
                  <a:srgbClr val="000000"/>
                </a:solidFill>
              </a:rPr>
              <a:t>Team-based</a:t>
            </a:r>
            <a:r>
              <a:rPr lang="en-GB">
                <a:solidFill>
                  <a:srgbClr val="000000"/>
                </a:solidFill>
              </a:rPr>
              <a:t> and </a:t>
            </a:r>
            <a:r>
              <a:rPr b="1" lang="en-GB">
                <a:solidFill>
                  <a:srgbClr val="000000"/>
                </a:solidFill>
              </a:rPr>
              <a:t>flat</a:t>
            </a:r>
            <a:r>
              <a:rPr lang="en-GB">
                <a:solidFill>
                  <a:srgbClr val="000000"/>
                </a:solidFill>
              </a:rPr>
              <a:t> structures emerge.</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Tech startups popularized </a:t>
            </a:r>
            <a:r>
              <a:rPr i="1" lang="en-GB">
                <a:solidFill>
                  <a:srgbClr val="000000"/>
                </a:solidFill>
              </a:rPr>
              <a:t>collaborative</a:t>
            </a:r>
            <a:r>
              <a:rPr lang="en-GB">
                <a:solidFill>
                  <a:srgbClr val="000000"/>
                </a:solidFill>
              </a:rPr>
              <a:t> and </a:t>
            </a:r>
            <a:r>
              <a:rPr i="1" lang="en-GB">
                <a:solidFill>
                  <a:srgbClr val="000000"/>
                </a:solidFill>
              </a:rPr>
              <a:t>horizontal leadership.</a:t>
            </a:r>
            <a:endParaRPr i="1">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None/>
            </a:pPr>
            <a:r>
              <a:t/>
            </a:r>
            <a:endParaRPr b="1">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Dismantling Hierarchies – Practical Steps</a:t>
            </a:r>
            <a:endParaRPr/>
          </a:p>
        </p:txBody>
      </p:sp>
      <p:sp>
        <p:nvSpPr>
          <p:cNvPr id="79" name="Google Shape;79;p17"/>
          <p:cNvSpPr txBox="1"/>
          <p:nvPr>
            <p:ph idx="1" type="body"/>
          </p:nvPr>
        </p:nvSpPr>
        <p:spPr>
          <a:xfrm>
            <a:off x="311700" y="1152475"/>
            <a:ext cx="8520600" cy="3488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GB">
                <a:solidFill>
                  <a:srgbClr val="000000"/>
                </a:solidFill>
              </a:rPr>
              <a:t>Strategies for a More Collaborative Workplace</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Open-Door Policy: </a:t>
            </a:r>
            <a:r>
              <a:rPr lang="en-GB">
                <a:solidFill>
                  <a:srgbClr val="000000"/>
                </a:solidFill>
              </a:rPr>
              <a:t>Encourage regular, informal check-ins.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Rotating Leadership Roles:</a:t>
            </a:r>
            <a:r>
              <a:rPr lang="en-GB">
                <a:solidFill>
                  <a:srgbClr val="000000"/>
                </a:solidFill>
              </a:rPr>
              <a:t> Different team members lead projects.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Transparent Decision-Making: </a:t>
            </a:r>
            <a:r>
              <a:rPr lang="en-GB">
                <a:solidFill>
                  <a:srgbClr val="000000"/>
                </a:solidFill>
              </a:rPr>
              <a:t>Share rationales behind major decisions.</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Flattening Power Dynamics: </a:t>
            </a:r>
            <a:r>
              <a:rPr lang="en-GB">
                <a:solidFill>
                  <a:srgbClr val="000000"/>
                </a:solidFill>
              </a:rPr>
              <a:t>Encourage input from all levels.</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rPr b="1" lang="en-GB">
                <a:solidFill>
                  <a:srgbClr val="000000"/>
                </a:solidFill>
              </a:rPr>
              <a:t>Data Points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Companies that emphasize employee voice see a 4.6x higher level of performance (HBR, 2018).</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Gallup finds highly engaged teams show 21% greater profitability (Gallup, 2017).</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 &amp; Citations</a:t>
            </a:r>
            <a:endParaRPr/>
          </a:p>
        </p:txBody>
      </p:sp>
      <p:sp>
        <p:nvSpPr>
          <p:cNvPr id="85" name="Google Shape;85;p18"/>
          <p:cNvSpPr txBox="1"/>
          <p:nvPr>
            <p:ph idx="1" type="body"/>
          </p:nvPr>
        </p:nvSpPr>
        <p:spPr>
          <a:xfrm>
            <a:off x="311700" y="1152475"/>
            <a:ext cx="8520600" cy="34881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Clr>
                <a:schemeClr val="dk1"/>
              </a:buClr>
              <a:buSzPts val="1100"/>
              <a:buFont typeface="Arial"/>
              <a:buNone/>
            </a:pPr>
            <a:r>
              <a:rPr b="1" lang="en-GB">
                <a:solidFill>
                  <a:srgbClr val="000000"/>
                </a:solidFill>
              </a:rPr>
              <a:t>Key Takeaways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Active Listening:</a:t>
            </a:r>
            <a:r>
              <a:rPr lang="en-GB">
                <a:solidFill>
                  <a:srgbClr val="000000"/>
                </a:solidFill>
              </a:rPr>
              <a:t> A cornerstone of effective communication; fosters trust and clarity.</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Dismantling Hierarchies:</a:t>
            </a:r>
            <a:r>
              <a:rPr lang="en-GB">
                <a:solidFill>
                  <a:srgbClr val="000000"/>
                </a:solidFill>
              </a:rPr>
              <a:t> A modern, inclusive approach that boosts innovation and performance.</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b="1" lang="en-GB">
                <a:solidFill>
                  <a:srgbClr val="000000"/>
                </a:solidFill>
              </a:rPr>
              <a:t>Action: </a:t>
            </a:r>
            <a:r>
              <a:rPr lang="en-GB">
                <a:solidFill>
                  <a:srgbClr val="000000"/>
                </a:solidFill>
              </a:rPr>
              <a:t>Implement these strategies to enhance workplace culture and </a:t>
            </a:r>
            <a:r>
              <a:rPr lang="en-GB">
                <a:solidFill>
                  <a:srgbClr val="000000"/>
                </a:solidFill>
              </a:rPr>
              <a:t>o</a:t>
            </a:r>
            <a:r>
              <a:rPr lang="en-GB">
                <a:solidFill>
                  <a:srgbClr val="000000"/>
                </a:solidFill>
              </a:rPr>
              <a:t>utcomes.’</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t/>
            </a:r>
            <a:endParaRPr>
              <a:solidFill>
                <a:srgbClr val="000000"/>
              </a:solidFill>
            </a:endParaRPr>
          </a:p>
          <a:p>
            <a:pPr indent="0" lvl="0" marL="0" rtl="0" algn="l">
              <a:lnSpc>
                <a:spcPct val="100000"/>
              </a:lnSpc>
              <a:spcBef>
                <a:spcPts val="0"/>
              </a:spcBef>
              <a:spcAft>
                <a:spcPts val="0"/>
              </a:spcAft>
              <a:buClr>
                <a:schemeClr val="dk1"/>
              </a:buClr>
              <a:buSzPts val="1100"/>
              <a:buFont typeface="Arial"/>
              <a:buNone/>
            </a:pPr>
            <a:r>
              <a:rPr b="1" lang="en-GB">
                <a:solidFill>
                  <a:srgbClr val="000000"/>
                </a:solidFill>
              </a:rPr>
              <a:t>Select References:</a:t>
            </a:r>
            <a:endParaRPr b="1">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Carl Rogers (1951). Client-Centered Therapy.</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Harvard Business Review (2018). Employee Voice and Organizational Performance.</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Gallup (2017). State of the American Workplace.</a:t>
            </a:r>
            <a:endParaRPr>
              <a:solidFill>
                <a:srgbClr val="000000"/>
              </a:solidFill>
            </a:endParaRPr>
          </a:p>
          <a:p>
            <a:pPr indent="-342900" lvl="0" marL="457200" rtl="0" algn="l">
              <a:lnSpc>
                <a:spcPct val="100000"/>
              </a:lnSpc>
              <a:spcBef>
                <a:spcPts val="0"/>
              </a:spcBef>
              <a:spcAft>
                <a:spcPts val="0"/>
              </a:spcAft>
              <a:buClr>
                <a:srgbClr val="000000"/>
              </a:buClr>
              <a:buSzPts val="1800"/>
              <a:buChar char="-"/>
            </a:pPr>
            <a:r>
              <a:rPr lang="en-GB">
                <a:solidFill>
                  <a:srgbClr val="000000"/>
                </a:solidFill>
              </a:rPr>
              <a:t>Frederick Taylor (1911). The Principles of Scientific Management.</a:t>
            </a:r>
            <a:endParaRPr>
              <a:solidFill>
                <a:srgbClr val="000000"/>
              </a:solidFill>
            </a:endParaRPr>
          </a:p>
          <a:p>
            <a:pPr indent="0" lvl="0" marL="0" rtl="0" algn="l">
              <a:lnSpc>
                <a:spcPct val="100000"/>
              </a:lnSpc>
              <a:spcBef>
                <a:spcPts val="0"/>
              </a:spcBef>
              <a:spcAft>
                <a:spcPts val="0"/>
              </a:spcAft>
              <a:buNone/>
            </a:pPr>
            <a:r>
              <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